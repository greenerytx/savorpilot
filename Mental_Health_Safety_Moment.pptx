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A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87200" cy="54864"/>
          </a:xfrm>
          <a:prstGeom prst="rect">
            <a:avLst/>
          </a:prstGeom>
          <a:solidFill>
            <a:srgbClr val="F4A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81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320040"/>
            <a:ext cx="3840480" cy="685800"/>
          </a:xfrm>
          <a:prstGeom prst="roundRect">
            <a:avLst>
              <a:gd name="adj" fmla="val 15000"/>
            </a:avLst>
          </a:prstGeom>
          <a:solidFill>
            <a:srgbClr val="F4A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B2E3F"/>
                </a:solidFill>
                <a:latin typeface="Calibri"/>
              </a:defRPr>
            </a:pPr>
            <a:r>
              <a:t>SAFETY MOMENT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Mental Health </a:t>
            </a:r>
            <a:r>
              <a:rPr sz="3600" b="1">
                <a:solidFill>
                  <a:srgbClr val="F4A236"/>
                </a:solidFill>
                <a:latin typeface="Calibri"/>
              </a:rPr>
              <a:t>&amp; Workplace 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i="1">
                <a:solidFill>
                  <a:srgbClr val="A8D8EA"/>
                </a:solidFill>
                <a:latin typeface="Calibri"/>
              </a:defRPr>
            </a:pPr>
            <a:r>
              <a:t>"A healthy mind leads to a safer workplace."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14600"/>
            <a:ext cx="10515600" cy="27432"/>
          </a:xfrm>
          <a:prstGeom prst="rect">
            <a:avLst/>
          </a:prstGeom>
          <a:solidFill>
            <a:srgbClr val="F4A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03D52"/>
          </a:solidFill>
          <a:ln w="12700">
            <a:solidFill>
              <a:srgbClr val="1A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2944368"/>
            <a:ext cx="3017520" cy="457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3200400"/>
            <a:ext cx="594360" cy="59436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/>
            </a:pPr>
            <a:r>
              <a:t>⚠️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200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THE IMPACT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931920"/>
            <a:ext cx="2834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  <a:defRPr sz="1300">
                <a:solidFill>
                  <a:srgbClr val="D5E8EF"/>
                </a:solidFill>
                <a:latin typeface="Calibri"/>
              </a:defRPr>
            </a:pPr>
            <a:r>
              <a:t>Stress, fatigue, or feeling overwhelmed can affect our focus. When focus drops, safety risks increase. Mental well-being is just as important as physical safety.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8346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03D52"/>
          </a:solidFill>
          <a:ln w="12700">
            <a:solidFill>
              <a:srgbClr val="1A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60" y="2944368"/>
            <a:ext cx="3017520" cy="457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26280" y="3200400"/>
            <a:ext cx="594360" cy="59436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/>
            </a:pPr>
            <a:r>
              <a:t>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3200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SMALL STEPS, BIG DIFFERENCE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931920"/>
            <a:ext cx="2834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  <a:defRPr sz="1300">
                <a:solidFill>
                  <a:srgbClr val="D5E8EF"/>
                </a:solidFill>
                <a:latin typeface="Calibri"/>
              </a:defRPr>
            </a:pPr>
            <a:r>
              <a:t>Take a short walk. Step outside for sunlight. Pause to reset your mind. These small actions improve mood and concentration throughout the day.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80" y="28346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03D52"/>
          </a:solidFill>
          <a:ln w="12700">
            <a:solidFill>
              <a:srgbClr val="1A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2944368"/>
            <a:ext cx="3017520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8160" y="3200400"/>
            <a:ext cx="594360" cy="59436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/>
            </a:pPr>
            <a:r>
              <a:t>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200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98DB"/>
                </a:solidFill>
                <a:latin typeface="Calibri"/>
              </a:defRPr>
            </a:pPr>
            <a:r>
              <a:t>SUPPORT EACH 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931920"/>
            <a:ext cx="2834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  <a:defRPr sz="1300">
                <a:solidFill>
                  <a:srgbClr val="D5E8EF"/>
                </a:solidFill>
                <a:latin typeface="Calibri"/>
              </a:defRPr>
            </a:pPr>
            <a:r>
              <a:t>If you're feeling stressed, take a break, talk to a colleague, or reach out for support. Supporting each other helps us stay focused, work better, and stay safe.</a:t>
            </a:r>
          </a:p>
        </p:txBody>
      </p:sp>
      <p:sp>
        <p:nvSpPr>
          <p:cNvPr id="24" name="Oval 23"/>
          <p:cNvSpPr/>
          <p:nvPr/>
        </p:nvSpPr>
        <p:spPr>
          <a:xfrm>
            <a:off x="10515600" y="274320"/>
            <a:ext cx="1097280" cy="1097280"/>
          </a:xfrm>
          <a:prstGeom prst="ellipse">
            <a:avLst/>
          </a:prstGeom>
          <a:solidFill>
            <a:srgbClr val="14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972800" y="731520"/>
            <a:ext cx="640080" cy="640080"/>
          </a:xfrm>
          <a:prstGeom prst="ellipse">
            <a:avLst/>
          </a:prstGeom>
          <a:solidFill>
            <a:srgbClr val="12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F4A236"/>
                </a:solidFill>
                <a:latin typeface="Calibri"/>
              </a:rPr>
              <a:t>Remember: </a:t>
            </a:r>
            <a:r>
              <a:rPr sz="1300">
                <a:solidFill>
                  <a:srgbClr val="D5E8EF"/>
                </a:solidFill>
                <a:latin typeface="Calibri"/>
              </a:rPr>
              <a:t>Take care of your mind. It takes care of your safety.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