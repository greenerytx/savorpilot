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65760"/>
            <a:ext cx="3291840" cy="1188720"/>
          </a:xfrm>
          <a:prstGeom prst="roundRect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Safe Moment</a:t>
            </a:r>
          </a:p>
        </p:txBody>
      </p:sp>
      <p:sp>
        <p:nvSpPr>
          <p:cNvPr id="4" name="Isosceles Triangle 3"/>
          <p:cNvSpPr/>
          <p:nvPr/>
        </p:nvSpPr>
        <p:spPr>
          <a:xfrm rot="10800000">
            <a:off x="1097280" y="1508760"/>
            <a:ext cx="457200" cy="365760"/>
          </a:xfrm>
          <a:prstGeom prst="triangle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457200" y="5120640"/>
            <a:ext cx="822960" cy="731520"/>
          </a:xfrm>
          <a:prstGeom prst="triangle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32004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371600"/>
            <a:ext cx="7132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CC"/>
                </a:solidFill>
              </a:defRPr>
            </a:pPr>
            <a:r>
              <a:t>Mental Health in the Workplace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7132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i="1">
                <a:solidFill>
                  <a:srgbClr val="666666"/>
                </a:solidFill>
              </a:defRPr>
            </a:pPr>
            <a:r>
              <a:t>Your mind is your most important piece of PPE.</a:t>
            </a:r>
          </a:p>
          <a:p>
            <a:pPr>
              <a:spcBef>
                <a:spcPts val="1600"/>
              </a:spcBef>
              <a:defRPr sz="1800">
                <a:solidFill>
                  <a:srgbClr val="333333"/>
                </a:solidFill>
              </a:defRPr>
            </a:pPr>
            <a:r>
              <a:t>A Safety Moment on Recognizing, Responding &amp; Supporting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3840480"/>
            <a:ext cx="2103120" cy="164592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0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0000CC"/>
                </a:solidFill>
              </a:defRPr>
            </a:pPr>
            <a:r>
              <a:t>1 in 5</a:t>
            </a:r>
          </a:p>
          <a:p>
            <a:pPr algn="ctr">
              <a:defRPr sz="1200">
                <a:solidFill>
                  <a:srgbClr val="333333"/>
                </a:solidFill>
              </a:defRPr>
            </a:pPr>
            <a:r>
              <a:t>adults experience</a:t>
            </a:r>
            <a:br/>
            <a:r>
              <a:t>mental illness each year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3840480"/>
            <a:ext cx="2103120" cy="164592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0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0000CC"/>
                </a:solidFill>
              </a:defRPr>
            </a:pPr>
            <a:r>
              <a:t>55%</a:t>
            </a:r>
          </a:p>
          <a:p>
            <a:pPr algn="ctr">
              <a:defRPr sz="1200">
                <a:solidFill>
                  <a:srgbClr val="333333"/>
                </a:solidFill>
              </a:defRPr>
            </a:pPr>
            <a:r>
              <a:t>of workers say their job</a:t>
            </a:r>
            <a:br/>
            <a:r>
              <a:t>affects mental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0" y="3840480"/>
            <a:ext cx="2103120" cy="164592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0000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000" b="1">
                <a:solidFill>
                  <a:srgbClr val="0000CC"/>
                </a:solidFill>
              </a:defRPr>
            </a:pPr>
            <a:r>
              <a:t>$1 Trillion</a:t>
            </a:r>
          </a:p>
          <a:p>
            <a:pPr algn="ctr">
              <a:defRPr sz="1200">
                <a:solidFill>
                  <a:srgbClr val="333333"/>
                </a:solidFill>
              </a:defRPr>
            </a:pPr>
            <a:r>
              <a:t>lost globally per year</a:t>
            </a:r>
            <a:br/>
            <a:r>
              <a:t>to anxiety &amp; depression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65760"/>
            <a:ext cx="3291840" cy="1188720"/>
          </a:xfrm>
          <a:prstGeom prst="roundRect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Safe Moment</a:t>
            </a:r>
          </a:p>
        </p:txBody>
      </p:sp>
      <p:sp>
        <p:nvSpPr>
          <p:cNvPr id="4" name="Isosceles Triangle 3"/>
          <p:cNvSpPr/>
          <p:nvPr/>
        </p:nvSpPr>
        <p:spPr>
          <a:xfrm rot="10800000">
            <a:off x="1097280" y="1508760"/>
            <a:ext cx="457200" cy="365760"/>
          </a:xfrm>
          <a:prstGeom prst="triangle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457200" y="5120640"/>
            <a:ext cx="822960" cy="731520"/>
          </a:xfrm>
          <a:prstGeom prst="triangle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32004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57200"/>
            <a:ext cx="7132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CC"/>
                </a:solidFill>
              </a:defRPr>
            </a:pPr>
            <a:r>
              <a:t>Why Mental Health Is a Safety 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28016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333333"/>
                </a:solidFill>
              </a:defRPr>
            </a:pPr>
            <a:r>
              <a:t>The Brain-Body Connection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- Fatigue, distraction &amp; emotional distress impair judgment like alcohol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- Workers with untreated depression have 2x higher injury rates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- Stress hormones reduce reaction time and narrow awareness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1400"/>
              </a:spcBef>
              <a:defRPr sz="1800" b="1">
                <a:solidFill>
                  <a:srgbClr val="333333"/>
                </a:solidFill>
              </a:defRPr>
            </a:pPr>
            <a:r>
              <a:t>The Hidden Hazard in Our Industry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- Isolation, long rotations, time away from family, high-pressure ops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- Struggling workers are less likely to speak up about physical hazards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- Suicide rates in construction &amp; extraction: 3-5x the national average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1400"/>
              </a:spcBef>
              <a:defRPr sz="1800" b="1">
                <a:solidFill>
                  <a:srgbClr val="333333"/>
                </a:solidFill>
              </a:defRPr>
            </a:pPr>
            <a:r>
              <a:t>It's Not "Soft" — It's Survival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- We wouldn't ignore a frayed wire or a cracked harness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- A struggling mind is an invisible but equally dangerous hazard</a:t>
            </a:r>
          </a:p>
          <a:p>
            <a:pPr>
              <a:spcBef>
                <a:spcPts val="400"/>
              </a:spcBef>
              <a:defRPr sz="1500">
                <a:solidFill>
                  <a:srgbClr val="333333"/>
                </a:solidFill>
              </a:defRPr>
            </a:pPr>
            <a:r>
              <a:t>- Mental fitness IS operational fitness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65760"/>
            <a:ext cx="3291840" cy="1188720"/>
          </a:xfrm>
          <a:prstGeom prst="roundRect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Safe Moment</a:t>
            </a:r>
          </a:p>
        </p:txBody>
      </p:sp>
      <p:sp>
        <p:nvSpPr>
          <p:cNvPr id="4" name="Isosceles Triangle 3"/>
          <p:cNvSpPr/>
          <p:nvPr/>
        </p:nvSpPr>
        <p:spPr>
          <a:xfrm rot="10800000">
            <a:off x="1097280" y="1508760"/>
            <a:ext cx="457200" cy="365760"/>
          </a:xfrm>
          <a:prstGeom prst="triangle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457200" y="5120640"/>
            <a:ext cx="822960" cy="731520"/>
          </a:xfrm>
          <a:prstGeom prst="triangle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32004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57200"/>
            <a:ext cx="7132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CC"/>
                </a:solidFill>
              </a:defRPr>
            </a:pPr>
            <a:r>
              <a:t>Recognizing the Warning Signs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371600"/>
            <a:ext cx="3383280" cy="4754880"/>
          </a:xfrm>
          <a:prstGeom prst="roundRect">
            <a:avLst/>
          </a:prstGeom>
          <a:solidFill>
            <a:srgbClr val="FDF0F0"/>
          </a:solidFill>
          <a:ln w="19050">
            <a:solidFill>
              <a:srgbClr val="CC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CC3333"/>
                </a:solidFill>
              </a:defRPr>
            </a:pPr>
            <a:r>
              <a:t>IN YOURSELF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Persistent dread about going to work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Snapping at coworkers over small things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Difficulty concentrating or making decisions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Using substances to 'unwind' daily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Headaches, chest tightness, stomach issues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Feeling numb or 'going through the motions'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Sleep problems — too much or too little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Withdrawing from people you usually enjoy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371600"/>
            <a:ext cx="3383280" cy="47548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E7D32"/>
                </a:solidFill>
              </a:defRPr>
            </a:pPr>
            <a:r>
              <a:t>IN A COWORKER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Sudden change in personality or mood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Increased absences or always late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Uncharacteristic mistakes or near-misses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Pulling away from team conversations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Comments like 'what's the point'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Visible exhaustion beyond normal fatigue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Talking about feeling trapped or hopeless</a:t>
            </a:r>
          </a:p>
          <a:p>
            <a:pPr>
              <a:spcBef>
                <a:spcPts val="600"/>
              </a:spcBef>
              <a:defRPr sz="1300">
                <a:solidFill>
                  <a:srgbClr val="333333"/>
                </a:solidFill>
              </a:defRPr>
            </a:pPr>
            <a:r>
              <a:t>  Giving away personal items (critical red flag)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65760"/>
            <a:ext cx="3291840" cy="1188720"/>
          </a:xfrm>
          <a:prstGeom prst="roundRect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Safe Moment</a:t>
            </a:r>
          </a:p>
        </p:txBody>
      </p:sp>
      <p:sp>
        <p:nvSpPr>
          <p:cNvPr id="4" name="Isosceles Triangle 3"/>
          <p:cNvSpPr/>
          <p:nvPr/>
        </p:nvSpPr>
        <p:spPr>
          <a:xfrm rot="10800000">
            <a:off x="1097280" y="1508760"/>
            <a:ext cx="457200" cy="365760"/>
          </a:xfrm>
          <a:prstGeom prst="triangle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457200" y="5120640"/>
            <a:ext cx="822960" cy="731520"/>
          </a:xfrm>
          <a:prstGeom prst="triangle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32004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57200"/>
            <a:ext cx="7132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CC"/>
                </a:solidFill>
              </a:defRPr>
            </a:pPr>
            <a:r>
              <a:t>How to Respond: The R.E.A.C.H. Method</a:t>
            </a:r>
          </a:p>
        </p:txBody>
      </p:sp>
      <p:sp>
        <p:nvSpPr>
          <p:cNvPr id="10" name="Oval 9"/>
          <p:cNvSpPr/>
          <p:nvPr/>
        </p:nvSpPr>
        <p:spPr>
          <a:xfrm>
            <a:off x="4572000" y="1463040"/>
            <a:ext cx="640080" cy="640080"/>
          </a:xfrm>
          <a:prstGeom prst="ellipse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4630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33333"/>
                </a:solidFill>
              </a:defRPr>
            </a:pPr>
            <a:r>
              <a:t>Recognize</a:t>
            </a:r>
          </a:p>
          <a:p>
            <a:pPr>
              <a:spcBef>
                <a:spcPts val="200"/>
              </a:spcBef>
              <a:defRPr sz="1400">
                <a:solidFill>
                  <a:srgbClr val="666666"/>
                </a:solidFill>
              </a:defRPr>
            </a:pPr>
            <a:r>
              <a:t>Notice behavioral changes — trust your gut if something feels off.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0" y="2468880"/>
            <a:ext cx="640080" cy="640080"/>
          </a:xfrm>
          <a:prstGeom prst="ellipse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46888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33333"/>
                </a:solidFill>
              </a:defRPr>
            </a:pPr>
            <a:r>
              <a:t>Engage</a:t>
            </a:r>
          </a:p>
          <a:p>
            <a:pPr>
              <a:spcBef>
                <a:spcPts val="200"/>
              </a:spcBef>
              <a:defRPr sz="1400">
                <a:solidFill>
                  <a:srgbClr val="666666"/>
                </a:solidFill>
              </a:defRPr>
            </a:pPr>
            <a:r>
              <a:t>Pull them aside privately. "Hey, I've noticed you seem off lately. How are you really doing?"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0" y="3474720"/>
            <a:ext cx="640080" cy="640080"/>
          </a:xfrm>
          <a:prstGeom prst="ellipse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4747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33333"/>
                </a:solidFill>
              </a:defRPr>
            </a:pPr>
            <a:r>
              <a:t>Ask Directly</a:t>
            </a:r>
          </a:p>
          <a:p>
            <a:pPr>
              <a:spcBef>
                <a:spcPts val="200"/>
              </a:spcBef>
              <a:defRPr sz="1400">
                <a:solidFill>
                  <a:srgbClr val="666666"/>
                </a:solidFill>
              </a:defRPr>
            </a:pPr>
            <a:r>
              <a:t>"Are you thinking about hurting yourself?" Asking does NOT plant the idea. It opens the door.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0" y="4480560"/>
            <a:ext cx="640080" cy="640080"/>
          </a:xfrm>
          <a:prstGeom prst="ellipse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48056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33333"/>
                </a:solidFill>
              </a:defRPr>
            </a:pPr>
            <a:r>
              <a:t>Connect</a:t>
            </a:r>
          </a:p>
          <a:p>
            <a:pPr>
              <a:spcBef>
                <a:spcPts val="200"/>
              </a:spcBef>
              <a:defRPr sz="1400">
                <a:solidFill>
                  <a:srgbClr val="666666"/>
                </a:solidFill>
              </a:defRPr>
            </a:pPr>
            <a:r>
              <a:t>Help them access EAP, counseling, a trusted leader. Walk with them — don't just hand them a number.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0" y="5486400"/>
            <a:ext cx="640080" cy="640080"/>
          </a:xfrm>
          <a:prstGeom prst="ellipse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864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33333"/>
                </a:solidFill>
              </a:defRPr>
            </a:pPr>
            <a:r>
              <a:t>Hold Space</a:t>
            </a:r>
          </a:p>
          <a:p>
            <a:pPr>
              <a:spcBef>
                <a:spcPts val="200"/>
              </a:spcBef>
              <a:defRPr sz="1400">
                <a:solidFill>
                  <a:srgbClr val="666666"/>
                </a:solidFill>
              </a:defRPr>
            </a:pPr>
            <a:r>
              <a:t>Follow up in a few days. Recovery isn't one conversation — consistency shows you mean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65760"/>
            <a:ext cx="3291840" cy="1188720"/>
          </a:xfrm>
          <a:prstGeom prst="roundRect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Safe Moment</a:t>
            </a:r>
          </a:p>
        </p:txBody>
      </p:sp>
      <p:sp>
        <p:nvSpPr>
          <p:cNvPr id="4" name="Isosceles Triangle 3"/>
          <p:cNvSpPr/>
          <p:nvPr/>
        </p:nvSpPr>
        <p:spPr>
          <a:xfrm rot="10800000">
            <a:off x="1097280" y="1508760"/>
            <a:ext cx="457200" cy="365760"/>
          </a:xfrm>
          <a:prstGeom prst="triangle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457200" y="5120640"/>
            <a:ext cx="822960" cy="731520"/>
          </a:xfrm>
          <a:prstGeom prst="triangle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32004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57200"/>
            <a:ext cx="7132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CC"/>
                </a:solidFill>
              </a:defRPr>
            </a:pPr>
            <a:r>
              <a:t>Breaking the Stigma: Myths vs. Reality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C3333"/>
                </a:solidFill>
              </a:defRPr>
            </a:pPr>
            <a:r>
              <a:t>MYTH: "Tough people don't need help."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73736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</a:defRPr>
            </a:pPr>
            <a:r>
              <a:t>REALITY: The toughest thing you can do is ask for help. SEALs, astronauts, and elite athletes all use mental health support.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9748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C3333"/>
                </a:solidFill>
              </a:defRPr>
            </a:pPr>
            <a:r>
              <a:t>MYTH: "It's personal, not a work issue."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6324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</a:defRPr>
            </a:pPr>
            <a:r>
              <a:t>REALITY: When mental health suffers, safety drops. We spend more waking hours at work than anywhere else.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02336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C3333"/>
                </a:solidFill>
              </a:defRPr>
            </a:pPr>
            <a:r>
              <a:t>MYTH: "Talking about it makes it worse."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38912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</a:defRPr>
            </a:pPr>
            <a:r>
              <a:t>REALITY: Research shows the opposite. Open conversation reduces distress and can be life-saving.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34924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C3333"/>
                </a:solidFill>
              </a:defRPr>
            </a:pPr>
            <a:r>
              <a:t>MYTH: "I'll get fired if I speak up."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57150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</a:defRPr>
            </a:pPr>
            <a:r>
              <a:t>REALITY: EAP services are confidential. Leaders who create safe cultures see higher retention and fewer incidents.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65760"/>
            <a:ext cx="3291840" cy="1188720"/>
          </a:xfrm>
          <a:prstGeom prst="roundRect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Safe Moment</a:t>
            </a:r>
          </a:p>
        </p:txBody>
      </p:sp>
      <p:sp>
        <p:nvSpPr>
          <p:cNvPr id="4" name="Isosceles Triangle 3"/>
          <p:cNvSpPr/>
          <p:nvPr/>
        </p:nvSpPr>
        <p:spPr>
          <a:xfrm rot="10800000">
            <a:off x="1097280" y="1508760"/>
            <a:ext cx="457200" cy="365760"/>
          </a:xfrm>
          <a:prstGeom prst="triangle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457200" y="5120640"/>
            <a:ext cx="822960" cy="731520"/>
          </a:xfrm>
          <a:prstGeom prst="triangle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32004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57200"/>
            <a:ext cx="7132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CC"/>
                </a:solidFill>
              </a:defRPr>
            </a:pPr>
            <a:r>
              <a:t>What You Can Do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28016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333333"/>
                </a:solidFill>
              </a:defRPr>
            </a:pPr>
            <a:r>
              <a:t>As an Individual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Check in with yourself — rate your mental energy 1-10 today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If you're below a 5, tell someone: supervisor, peer, friend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Use your EAP — free, confidential, available 24/7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Set one boundary this week (no emails after 7pm, real lunch break)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1400"/>
              </a:spcBef>
              <a:defRPr sz="1800" b="1">
                <a:solidFill>
                  <a:srgbClr val="333333"/>
                </a:solidFill>
              </a:defRPr>
            </a:pPr>
            <a:r>
              <a:t>As a Team Member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Make "How are you doing?" a real question, not a greeting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Normalize saying "I'm having a rough day"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Look out for the quiet ones — they may need help most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Buddy-check systems work for mental health just like physical safety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1400"/>
              </a:spcBef>
              <a:defRPr sz="1800" b="1">
                <a:solidFill>
                  <a:srgbClr val="333333"/>
                </a:solidFill>
              </a:defRPr>
            </a:pPr>
            <a:r>
              <a:t>As a Leader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Start your next pre-job meeting with a mental health check-in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Share your own struggles — vulnerability from leaders is powerful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Know your EAP contact — save it in your phone right now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Make it clear: asking for help is strength, not weakness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65760"/>
            <a:ext cx="3291840" cy="1188720"/>
          </a:xfrm>
          <a:prstGeom prst="roundRect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Safe Moment</a:t>
            </a:r>
          </a:p>
        </p:txBody>
      </p:sp>
      <p:sp>
        <p:nvSpPr>
          <p:cNvPr id="4" name="Isosceles Triangle 3"/>
          <p:cNvSpPr/>
          <p:nvPr/>
        </p:nvSpPr>
        <p:spPr>
          <a:xfrm rot="10800000">
            <a:off x="1097280" y="1508760"/>
            <a:ext cx="457200" cy="365760"/>
          </a:xfrm>
          <a:prstGeom prst="triangle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457200" y="5120640"/>
            <a:ext cx="822960" cy="731520"/>
          </a:xfrm>
          <a:prstGeom prst="triangle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32004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57200"/>
            <a:ext cx="7132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CC"/>
                </a:solidFill>
              </a:defRPr>
            </a:pPr>
            <a:r>
              <a:t>Resources &amp; Crisis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371600"/>
            <a:ext cx="7132320" cy="1463040"/>
          </a:xfrm>
          <a:prstGeom prst="roundRect">
            <a:avLst/>
          </a:prstGeom>
          <a:solidFill>
            <a:srgbClr val="FDE8E8"/>
          </a:solidFill>
          <a:ln w="25400">
            <a:solidFill>
              <a:srgbClr val="C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CC0000"/>
                </a:solidFill>
              </a:defRPr>
            </a:pPr>
            <a:r>
              <a:t>IN A CRISIS — ACT NOW</a:t>
            </a:r>
          </a:p>
          <a:p>
            <a:pPr algn="ctr">
              <a:spcBef>
                <a:spcPts val="600"/>
              </a:spcBef>
              <a:defRPr sz="1600" b="1">
                <a:solidFill>
                  <a:srgbClr val="333333"/>
                </a:solidFill>
              </a:defRPr>
            </a:pPr>
            <a:r>
              <a:t>988 Suicide &amp; Crisis Lifeline — Call or text 988 (24/7)</a:t>
            </a:r>
          </a:p>
          <a:p>
            <a:pPr algn="ctr">
              <a:spcBef>
                <a:spcPts val="600"/>
              </a:spcBef>
              <a:defRPr sz="1600" b="1">
                <a:solidFill>
                  <a:srgbClr val="333333"/>
                </a:solidFill>
              </a:defRPr>
            </a:pPr>
            <a:r>
              <a:t>Crisis Text Line — Text HOME to 741741</a:t>
            </a:r>
          </a:p>
          <a:p>
            <a:pPr algn="ctr">
              <a:spcBef>
                <a:spcPts val="600"/>
              </a:spcBef>
              <a:defRPr sz="1600" b="1">
                <a:solidFill>
                  <a:srgbClr val="333333"/>
                </a:solidFill>
              </a:defRPr>
            </a:pPr>
            <a:r>
              <a:t>Emergency Services — Call 911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017520"/>
            <a:ext cx="7132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1800" b="1">
                <a:solidFill>
                  <a:srgbClr val="333333"/>
                </a:solidFill>
              </a:defRPr>
            </a:pPr>
            <a:r>
              <a:t>Ongoing Support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Employee Assistance Program (EAP) — check with HR / benefits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SAMHSA Helpline — 1-800-662-4357 (free, confidential, 24/7)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NAMI — nami.org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1400"/>
              </a:spcBef>
              <a:defRPr sz="1800" b="1">
                <a:solidFill>
                  <a:srgbClr val="333333"/>
                </a:solidFill>
              </a:defRPr>
            </a:pPr>
            <a:r>
              <a:t>Self-Care Tools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Apps: Calm, Headspace, Woebot, PTSD Coach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Journaling: 5 minutes of writing measurably reduces stress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Movement: 20 min walking cuts anxiety symptoms by 30%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1400"/>
              </a:spcBef>
              <a:defRPr sz="1800" b="1">
                <a:solidFill>
                  <a:srgbClr val="333333"/>
                </a:solidFill>
              </a:defRPr>
            </a:pPr>
            <a:r>
              <a:t>Remember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You don't need to be "in crisis" to use these resources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Reaching out early is the smartest safety decision you can make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- You are not a burden — you are a valued team member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000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365760"/>
            <a:ext cx="3291840" cy="1188720"/>
          </a:xfrm>
          <a:prstGeom prst="roundRect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Safe Moment</a:t>
            </a:r>
          </a:p>
        </p:txBody>
      </p:sp>
      <p:sp>
        <p:nvSpPr>
          <p:cNvPr id="4" name="Isosceles Triangle 3"/>
          <p:cNvSpPr/>
          <p:nvPr/>
        </p:nvSpPr>
        <p:spPr>
          <a:xfrm rot="10800000">
            <a:off x="1097280" y="1508760"/>
            <a:ext cx="457200" cy="365760"/>
          </a:xfrm>
          <a:prstGeom prst="triangle">
            <a:avLst/>
          </a:prstGeom>
          <a:noFill/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457200" y="5120640"/>
            <a:ext cx="822960" cy="731520"/>
          </a:xfrm>
          <a:prstGeom prst="triangle">
            <a:avLst/>
          </a:prstGeom>
          <a:noFill/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989320"/>
            <a:ext cx="32004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12648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371600"/>
            <a:ext cx="7132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0000CC"/>
                </a:solidFill>
              </a:defRPr>
            </a:pPr>
            <a:r>
              <a:t>"Safety isn't just about</a:t>
            </a:r>
            <a:br/>
            <a:r>
              <a:t>going home in one piece.</a:t>
            </a:r>
          </a:p>
          <a:p>
            <a:pPr algn="ctr">
              <a:spcBef>
                <a:spcPts val="800"/>
              </a:spcBef>
              <a:defRPr sz="3000" b="1">
                <a:solidFill>
                  <a:srgbClr val="0000CC"/>
                </a:solidFill>
              </a:defRPr>
            </a:pPr>
            <a:r>
              <a:t>It's about going home whole."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657600"/>
            <a:ext cx="7132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33333"/>
                </a:solidFill>
              </a:defRPr>
            </a:pPr>
            <a:r>
              <a:t>DISCUSSION QUESTIONS</a:t>
            </a:r>
          </a:p>
          <a:p>
            <a:pPr>
              <a:spcBef>
                <a:spcPts val="1200"/>
              </a:spcBef>
              <a:defRPr sz="1600">
                <a:solidFill>
                  <a:srgbClr val="666666"/>
                </a:solidFill>
              </a:defRPr>
            </a:pPr>
            <a:r>
              <a:t>  What's one thing that recharges you outside of work?</a:t>
            </a:r>
          </a:p>
          <a:p>
            <a:pPr>
              <a:spcBef>
                <a:spcPts val="1200"/>
              </a:spcBef>
              <a:defRPr sz="1600">
                <a:solidFill>
                  <a:srgbClr val="666666"/>
                </a:solidFill>
              </a:defRPr>
            </a:pPr>
            <a:r>
              <a:t>  Have you ever noticed a coworker struggling? What did you do?</a:t>
            </a:r>
          </a:p>
          <a:p>
            <a:pPr>
              <a:spcBef>
                <a:spcPts val="1200"/>
              </a:spcBef>
              <a:defRPr sz="1600">
                <a:solidFill>
                  <a:srgbClr val="666666"/>
                </a:solidFill>
              </a:defRPr>
            </a:pPr>
            <a:r>
              <a:t>  What would make it easier for YOU to ask for help on this team?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