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3291840" cy="1188720"/>
          </a:xfrm>
          <a:prstGeom prst="roundRect">
            <a:avLst/>
          </a:prstGeom>
          <a:noFill/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Safe Moment</a:t>
            </a:r>
          </a:p>
        </p:txBody>
      </p:sp>
      <p:sp>
        <p:nvSpPr>
          <p:cNvPr id="4" name="Isosceles Triangle 3"/>
          <p:cNvSpPr/>
          <p:nvPr/>
        </p:nvSpPr>
        <p:spPr>
          <a:xfrm rot="10800000">
            <a:off x="1097280" y="1508760"/>
            <a:ext cx="457200" cy="365760"/>
          </a:xfrm>
          <a:prstGeom prst="triangle">
            <a:avLst/>
          </a:prstGeom>
          <a:noFill/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103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Mental Health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in the Workplace</a:t>
            </a:r>
          </a:p>
          <a:p>
            <a:pPr>
              <a:spcBef>
                <a:spcPts val="1200"/>
              </a:spcBef>
            </a:pPr>
          </a:p>
          <a:p>
            <a:pPr>
              <a:defRPr sz="1500" i="1">
                <a:solidFill>
                  <a:srgbClr val="CCCCFF"/>
                </a:solidFill>
              </a:defRPr>
            </a:pPr>
            <a:r>
              <a:t>Your mind is your most</a:t>
            </a:r>
          </a:p>
          <a:p>
            <a:pPr>
              <a:defRPr sz="1500" i="1">
                <a:solidFill>
                  <a:srgbClr val="CCCCFF"/>
                </a:solidFill>
              </a:defRPr>
            </a:pPr>
            <a:r>
              <a:t>important piece of PPE.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1 in 5  </a:t>
            </a:r>
            <a:r>
              <a:rPr sz="1300">
                <a:solidFill>
                  <a:srgbClr val="CCCCFF"/>
                </a:solidFill>
              </a:rPr>
              <a:t>adults affected yearly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55%  </a:t>
            </a:r>
            <a:r>
              <a:rPr sz="1300">
                <a:solidFill>
                  <a:srgbClr val="CCCCFF"/>
                </a:solidFill>
              </a:rPr>
              <a:t>say job hurts mental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2x  </a:t>
            </a:r>
            <a:r>
              <a:rPr sz="1300">
                <a:solidFill>
                  <a:srgbClr val="CCCCFF"/>
                </a:solidFill>
              </a:rPr>
              <a:t>injury rate if untreated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457200" y="5394960"/>
            <a:ext cx="640080" cy="548640"/>
          </a:xfrm>
          <a:prstGeom prst="triangl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440680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989320"/>
            <a:ext cx="3200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CC"/>
                </a:solidFill>
              </a:defRPr>
            </a:pPr>
            <a:r>
              <a:t>KNOW THE WARNING SIGNS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731520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⚠  Persistent fatigue, difficulty concentrating, or uncharacteristic mistakes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⚠  Withdrawal from team, mood swings, snapping over small things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⚠  Comments like "what's the point" — or giving away personal items (red flag)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CC"/>
                </a:solidFill>
              </a:defRPr>
            </a:pPr>
            <a:r>
              <a:t>RESPOND WITH R.E.A.C.H.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774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 R </a:t>
            </a:r>
            <a:r>
              <a:rPr sz="1300" b="1">
                <a:solidFill>
                  <a:srgbClr val="333333"/>
                </a:solidFill>
              </a:rPr>
              <a:t>  Recognize: </a:t>
            </a:r>
            <a:r>
              <a:rPr sz="1200">
                <a:solidFill>
                  <a:srgbClr val="666666"/>
                </a:solidFill>
              </a:rPr>
              <a:t>Notice changes — trust your gut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6148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 E </a:t>
            </a:r>
            <a:r>
              <a:rPr sz="1300" b="1">
                <a:solidFill>
                  <a:srgbClr val="333333"/>
                </a:solidFill>
              </a:rPr>
              <a:t>  Engage: </a:t>
            </a:r>
            <a:r>
              <a:rPr sz="1200">
                <a:solidFill>
                  <a:srgbClr val="666666"/>
                </a:solidFill>
              </a:rPr>
              <a:t>"How are you really doing?"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4553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 A </a:t>
            </a:r>
            <a:r>
              <a:rPr sz="1300" b="1">
                <a:solidFill>
                  <a:srgbClr val="333333"/>
                </a:solidFill>
              </a:rPr>
              <a:t>  Ask Directly: </a:t>
            </a:r>
            <a:r>
              <a:rPr sz="1200">
                <a:solidFill>
                  <a:srgbClr val="666666"/>
                </a:solidFill>
              </a:rPr>
              <a:t>"Are you thinking of hurting yourself?" — it opens the door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29584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 C </a:t>
            </a:r>
            <a:r>
              <a:rPr sz="1300" b="1">
                <a:solidFill>
                  <a:srgbClr val="333333"/>
                </a:solidFill>
              </a:rPr>
              <a:t>  Connect: </a:t>
            </a:r>
            <a:r>
              <a:rPr sz="1200">
                <a:solidFill>
                  <a:srgbClr val="666666"/>
                </a:solidFill>
              </a:rPr>
              <a:t>Walk them to EAP/counseling — don't just hand a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1363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 H </a:t>
            </a:r>
            <a:r>
              <a:rPr sz="1300" b="1">
                <a:solidFill>
                  <a:srgbClr val="333333"/>
                </a:solidFill>
              </a:rPr>
              <a:t>  Hold Space: </a:t>
            </a:r>
            <a:r>
              <a:rPr sz="1200">
                <a:solidFill>
                  <a:srgbClr val="666666"/>
                </a:solidFill>
              </a:rPr>
              <a:t>Follow up in days — consistency matters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2402840"/>
            <a:ext cx="292608" cy="292608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0" y="2786888"/>
            <a:ext cx="292608" cy="292608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0" y="3170936"/>
            <a:ext cx="292608" cy="292608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0" y="3554984"/>
            <a:ext cx="292608" cy="292608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3939032"/>
            <a:ext cx="292608" cy="292608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3484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CC"/>
                </a:solidFill>
              </a:defRPr>
            </a:pPr>
            <a:r>
              <a:t>WHAT YOU CAN DO TODAY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006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✔  Rate your mental energy 1-10 — below 5? Tell someone today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✔  Make "how are you?" a real question, not just a greeting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✔  Use your EAP — it's free, confidential, and available 24/7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5806440"/>
            <a:ext cx="7132320" cy="822960"/>
          </a:xfrm>
          <a:prstGeom prst="roundRect">
            <a:avLst/>
          </a:prstGeom>
          <a:solidFill>
            <a:srgbClr val="FDE8E8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C0000"/>
                </a:solidFill>
              </a:rPr>
              <a:t>CRISIS? </a:t>
            </a:r>
            <a:r>
              <a:rPr sz="1300" b="1">
                <a:solidFill>
                  <a:srgbClr val="333333"/>
                </a:solidFill>
              </a:rPr>
              <a:t>Call/Text 988  |  Text HOME to 741741  |  Call 911  |  </a:t>
            </a:r>
            <a:r>
              <a:rPr sz="1300" i="1">
                <a:solidFill>
                  <a:srgbClr val="666666"/>
                </a:solidFill>
              </a:rPr>
              <a:t>You are not a burden.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